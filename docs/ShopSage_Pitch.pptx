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9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0387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AF7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ShopSage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58368" y="120700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C8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RAG-based conversational shopping assistant for an apparel catalog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Grounded in a real retail pattern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12848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A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Rufus  </a:t>
            </a:r>
            <a:r>
              <a:rPr lang="en-US" sz="1250" dirty="0">
                <a:solidFill>
                  <a:srgbClr val="8C8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shopping assistant shipped across the retail app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4840" y="2624328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A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Myntra MyFashionGPT  </a:t>
            </a:r>
            <a:r>
              <a:rPr lang="en-US" sz="1250" dirty="0">
                <a:solidFill>
                  <a:srgbClr val="8C8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natural-language outfit search for the Indian market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7220" y="3035327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A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Flipkart Flippi  </a:t>
            </a:r>
            <a:r>
              <a:rPr lang="en-US" sz="1250" dirty="0">
                <a:solidFill>
                  <a:srgbClr val="8C8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conversational commerce pilot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822192"/>
            <a:ext cx="56235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A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“Where is my order?”  </a:t>
            </a:r>
            <a:r>
              <a:rPr lang="en-US" sz="1250" dirty="0">
                <a:solidFill>
                  <a:srgbClr val="8C8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among the highest-volume retail support intents worldwide</a:t>
            </a:r>
          </a:p>
          <a:p>
            <a:r>
              <a:rPr lang="en-US" sz="1250" dirty="0">
                <a:solidFill>
                  <a:srgbClr val="8C8175"/>
                </a:solidFill>
                <a:latin typeface="Inter" pitchFamily="34" charset="0"/>
                <a:ea typeface="Inter" pitchFamily="34" charset="-122"/>
              </a:rPr>
              <a:t>tens of millions of customer contacts each week—approximately </a:t>
            </a:r>
            <a:r>
              <a:rPr lang="en-US" sz="1250" b="1" dirty="0">
                <a:solidFill>
                  <a:srgbClr val="FAF7F1"/>
                </a:solidFill>
                <a:latin typeface="Inter" pitchFamily="34" charset="0"/>
                <a:ea typeface="Inter" pitchFamily="34" charset="-122"/>
              </a:rPr>
              <a:t>50–130 million </a:t>
            </a:r>
            <a:r>
              <a:rPr lang="en-US" sz="1250" dirty="0">
                <a:solidFill>
                  <a:srgbClr val="8C8175"/>
                </a:solidFill>
                <a:latin typeface="Inter" pitchFamily="34" charset="0"/>
                <a:ea typeface="Inter" pitchFamily="34" charset="-122"/>
              </a:rPr>
              <a:t>globally. </a:t>
            </a:r>
          </a:p>
        </p:txBody>
      </p:sp>
      <p:sp>
        <p:nvSpPr>
          <p:cNvPr id="10" name="Text 8"/>
          <p:cNvSpPr/>
          <p:nvPr/>
        </p:nvSpPr>
        <p:spPr>
          <a:xfrm>
            <a:off x="672084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gap ShopSage closes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21945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A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“chat with a catalog” demos stop at retrieval. Production assistants need live inventory truth, order lookups, shopper memory, and safety controls.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20840" y="3127248"/>
            <a:ext cx="2359152" cy="457200"/>
          </a:xfrm>
          <a:prstGeom prst="roundRect">
            <a:avLst>
              <a:gd name="adj" fmla="val 16000"/>
            </a:avLst>
          </a:prstGeom>
          <a:solidFill>
            <a:srgbClr val="2B2420"/>
          </a:solidFill>
          <a:ln w="12700">
            <a:solidFill>
              <a:srgbClr val="A8553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A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Conversational RAG search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208008" y="3127248"/>
            <a:ext cx="2359152" cy="457200"/>
          </a:xfrm>
          <a:prstGeom prst="roundRect">
            <a:avLst>
              <a:gd name="adj" fmla="val 16000"/>
            </a:avLst>
          </a:prstGeom>
          <a:solidFill>
            <a:srgbClr val="2B2420"/>
          </a:solidFill>
          <a:ln w="12700">
            <a:solidFill>
              <a:srgbClr val="A8553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A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MCP retail tools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20840" y="3694176"/>
            <a:ext cx="2359152" cy="457200"/>
          </a:xfrm>
          <a:prstGeom prst="roundRect">
            <a:avLst>
              <a:gd name="adj" fmla="val 16000"/>
            </a:avLst>
          </a:prstGeom>
          <a:solidFill>
            <a:srgbClr val="2B2420"/>
          </a:solidFill>
          <a:ln w="12700">
            <a:solidFill>
              <a:srgbClr val="A8553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A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Cross-session shopper memory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208008" y="3694176"/>
            <a:ext cx="2359152" cy="457200"/>
          </a:xfrm>
          <a:prstGeom prst="roundRect">
            <a:avLst>
              <a:gd name="adj" fmla="val 16000"/>
            </a:avLst>
          </a:prstGeom>
          <a:solidFill>
            <a:srgbClr val="2B2420"/>
          </a:solidFill>
          <a:ln w="12700">
            <a:solidFill>
              <a:srgbClr val="A8553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A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guardrails (G1–G3)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20840" y="437083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C8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apparel: size and color variants make inventory non-trivial, style makes memory meaningful, age-appropriateness makes guardrails concrete.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5577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AF7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100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" y="61447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80360" y="5577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AF7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880360" y="61447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20640" y="5577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AF7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954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120640" y="61447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variants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60920" y="5577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AF7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300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360920" y="61447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0" y="5577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AF7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₹399–3,999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601200" y="61447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band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4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Process: two LLM calls, four branches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turn emits a trace; FastAPI serves the React frontend and the observability dashboard.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34190" y="2048256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E4DCCF"/>
          </a:solidFill>
          <a:ln w="9525">
            <a:solidFill>
              <a:srgbClr val="2B242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message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05790" y="2322576"/>
            <a:ext cx="301752" cy="0"/>
          </a:xfrm>
          <a:prstGeom prst="line">
            <a:avLst/>
          </a:prstGeom>
          <a:noFill/>
          <a:ln w="15875">
            <a:solidFill>
              <a:srgbClr val="2B242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25830" y="1664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call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25830" y="1956816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A8553B"/>
          </a:solidFill>
          <a:ln w="9525">
            <a:solidFill>
              <a:srgbClr val="A8553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Extraction call
</a:t>
            </a:r>
            <a:r>
              <a:rPr lang="en-US" sz="950" dirty="0">
                <a:solidFill>
                  <a:srgbClr val="FA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slots + ID guard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63190" y="2322576"/>
            <a:ext cx="301752" cy="0"/>
          </a:xfrm>
          <a:prstGeom prst="line">
            <a:avLst/>
          </a:prstGeom>
          <a:noFill/>
          <a:ln w="15875">
            <a:solidFill>
              <a:srgbClr val="2B242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83230" y="1975104"/>
            <a:ext cx="1600200" cy="694944"/>
          </a:xfrm>
          <a:prstGeom prst="ellipse">
            <a:avLst/>
          </a:prstGeom>
          <a:solidFill>
            <a:srgbClr val="FAF7F1"/>
          </a:solidFill>
          <a:ln w="12700">
            <a:solidFill>
              <a:srgbClr val="2B242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router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77790" y="1362456"/>
            <a:ext cx="1783080" cy="475488"/>
          </a:xfrm>
          <a:prstGeom prst="roundRect">
            <a:avLst>
              <a:gd name="adj" fmla="val 11538"/>
            </a:avLst>
          </a:prstGeom>
          <a:solidFill>
            <a:srgbClr val="E4DCCF"/>
          </a:solidFill>
          <a:ln w="9525">
            <a:solidFill>
              <a:srgbClr val="2B242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search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 flipV="1">
            <a:off x="6210862" y="1600200"/>
            <a:ext cx="530352" cy="722376"/>
          </a:xfrm>
          <a:prstGeom prst="line">
            <a:avLst/>
          </a:prstGeom>
          <a:noFill/>
          <a:ln w="12700">
            <a:solidFill>
              <a:srgbClr val="8C817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668512" y="1606296"/>
            <a:ext cx="530352" cy="722376"/>
          </a:xfrm>
          <a:prstGeom prst="line">
            <a:avLst/>
          </a:prstGeom>
          <a:noFill/>
          <a:ln w="12700">
            <a:solidFill>
              <a:srgbClr val="8C817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77790" y="1984248"/>
            <a:ext cx="1783080" cy="475488"/>
          </a:xfrm>
          <a:prstGeom prst="roundRect">
            <a:avLst>
              <a:gd name="adj" fmla="val 11538"/>
            </a:avLst>
          </a:prstGeom>
          <a:solidFill>
            <a:srgbClr val="E4DCCF"/>
          </a:solidFill>
          <a:ln w="9525">
            <a:solidFill>
              <a:srgbClr val="2B242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Follow-up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 flipV="1">
            <a:off x="6210862" y="2221992"/>
            <a:ext cx="530352" cy="100584"/>
          </a:xfrm>
          <a:prstGeom prst="line">
            <a:avLst/>
          </a:prstGeom>
          <a:noFill/>
          <a:ln w="12700">
            <a:solidFill>
              <a:srgbClr val="8C817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68512" y="2228088"/>
            <a:ext cx="530352" cy="100584"/>
          </a:xfrm>
          <a:prstGeom prst="line">
            <a:avLst/>
          </a:prstGeom>
          <a:noFill/>
          <a:ln w="12700">
            <a:solidFill>
              <a:srgbClr val="8C817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77790" y="2606040"/>
            <a:ext cx="1783080" cy="475488"/>
          </a:xfrm>
          <a:prstGeom prst="roundRect">
            <a:avLst>
              <a:gd name="adj" fmla="val 11538"/>
            </a:avLst>
          </a:prstGeom>
          <a:solidFill>
            <a:srgbClr val="E4DCCF"/>
          </a:solidFill>
          <a:ln w="9525">
            <a:solidFill>
              <a:srgbClr val="2B242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check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0862" y="2322576"/>
            <a:ext cx="530352" cy="521208"/>
          </a:xfrm>
          <a:prstGeom prst="line">
            <a:avLst/>
          </a:prstGeom>
          <a:noFill/>
          <a:ln w="12700">
            <a:solidFill>
              <a:srgbClr val="8C817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V="1">
            <a:off x="8668512" y="2328672"/>
            <a:ext cx="530352" cy="521208"/>
          </a:xfrm>
          <a:prstGeom prst="line">
            <a:avLst/>
          </a:prstGeom>
          <a:noFill/>
          <a:ln w="12700">
            <a:solidFill>
              <a:srgbClr val="8C817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77790" y="3227832"/>
            <a:ext cx="1783080" cy="475488"/>
          </a:xfrm>
          <a:prstGeom prst="roundRect">
            <a:avLst>
              <a:gd name="adj" fmla="val 11538"/>
            </a:avLst>
          </a:prstGeom>
          <a:solidFill>
            <a:srgbClr val="E4DCCF"/>
          </a:solidFill>
          <a:ln w="9525">
            <a:solidFill>
              <a:srgbClr val="2B242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tracking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0862" y="2322576"/>
            <a:ext cx="530352" cy="1143000"/>
          </a:xfrm>
          <a:prstGeom prst="line">
            <a:avLst/>
          </a:prstGeom>
          <a:noFill/>
          <a:ln w="12700">
            <a:solidFill>
              <a:srgbClr val="8C817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V="1">
            <a:off x="8668512" y="2328672"/>
            <a:ext cx="530352" cy="1143000"/>
          </a:xfrm>
          <a:prstGeom prst="line">
            <a:avLst/>
          </a:prstGeom>
          <a:noFill/>
          <a:ln w="12700">
            <a:solidFill>
              <a:srgbClr val="8C817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235440" y="16703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call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235440" y="1962912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A8553B"/>
          </a:solidFill>
          <a:ln w="9525">
            <a:solidFill>
              <a:srgbClr val="A8553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response
</a:t>
            </a:r>
            <a:r>
              <a:rPr lang="en-US" sz="950" dirty="0">
                <a:solidFill>
                  <a:srgbClr val="FA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profile-aware prompt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195560" y="2694432"/>
            <a:ext cx="0" cy="320040"/>
          </a:xfrm>
          <a:prstGeom prst="line">
            <a:avLst/>
          </a:prstGeom>
          <a:noFill/>
          <a:ln w="15875">
            <a:solidFill>
              <a:srgbClr val="2B242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235440" y="3041904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8C8175"/>
          </a:solidFill>
          <a:ln w="9525">
            <a:solidFill>
              <a:srgbClr val="8C817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A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filters
</a:t>
            </a:r>
            <a:r>
              <a:rPr lang="en-US" sz="950" dirty="0">
                <a:solidFill>
                  <a:srgbClr val="FA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align, child, budget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0195560" y="3727704"/>
            <a:ext cx="0" cy="320040"/>
          </a:xfrm>
          <a:prstGeom prst="line">
            <a:avLst/>
          </a:prstGeom>
          <a:noFill/>
          <a:ln w="15875">
            <a:solidFill>
              <a:srgbClr val="2B242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235440" y="4075176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2B2420"/>
          </a:solidFill>
          <a:ln w="9525">
            <a:solidFill>
              <a:srgbClr val="2B242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A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/api/chat
</a:t>
            </a:r>
            <a:r>
              <a:rPr lang="en-US" sz="950" dirty="0">
                <a:solidFill>
                  <a:srgbClr val="FA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ChatResponse JSON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692640" y="4760976"/>
            <a:ext cx="0" cy="292608"/>
          </a:xfrm>
          <a:prstGeom prst="line">
            <a:avLst/>
          </a:prstGeom>
          <a:noFill/>
          <a:ln w="15875">
            <a:solidFill>
              <a:srgbClr val="2B242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744200" y="4760976"/>
            <a:ext cx="0" cy="292608"/>
          </a:xfrm>
          <a:prstGeom prst="line">
            <a:avLst/>
          </a:prstGeom>
          <a:noFill/>
          <a:ln w="15875">
            <a:solidFill>
              <a:srgbClr val="2B242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732520" y="5090160"/>
            <a:ext cx="1481328" cy="658368"/>
          </a:xfrm>
          <a:prstGeom prst="roundRect">
            <a:avLst>
              <a:gd name="adj" fmla="val 8333"/>
            </a:avLst>
          </a:prstGeom>
          <a:solidFill>
            <a:srgbClr val="FAF7F1"/>
          </a:solidFill>
          <a:ln w="12700">
            <a:solidFill>
              <a:srgbClr val="2B242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frontend
</a:t>
            </a:r>
            <a:r>
              <a:rPr lang="en-US" sz="850" dirty="0">
                <a:solidFill>
                  <a:srgbClr val="2B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+ product cards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351008" y="5090160"/>
            <a:ext cx="1584309" cy="658368"/>
          </a:xfrm>
          <a:prstGeom prst="roundRect">
            <a:avLst>
              <a:gd name="adj" fmla="val 8333"/>
            </a:avLst>
          </a:prstGeom>
          <a:solidFill>
            <a:srgbClr val="FAF7F1"/>
          </a:solidFill>
          <a:ln w="12700">
            <a:solidFill>
              <a:srgbClr val="2B242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
</a:t>
            </a:r>
            <a:r>
              <a:rPr lang="en-US" sz="850" dirty="0">
                <a:solidFill>
                  <a:srgbClr val="2B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 summary, 10 s poll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248654"/>
            <a:ext cx="2423160" cy="969266"/>
          </a:xfrm>
          <a:prstGeom prst="roundRect">
            <a:avLst>
              <a:gd name="adj" fmla="val 4211"/>
            </a:avLst>
          </a:prstGeom>
          <a:solidFill>
            <a:srgbClr val="FAF7F1"/>
          </a:solidFill>
          <a:ln w="12700">
            <a:solidFill>
              <a:srgbClr val="8C817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22376" y="5281703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55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13232" y="5458968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Backfills empty slots after call 1. Learnings written every turn; profile seasons call 2’s system prompt.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154680" y="5248654"/>
            <a:ext cx="2423160" cy="969265"/>
          </a:xfrm>
          <a:prstGeom prst="roundRect">
            <a:avLst>
              <a:gd name="adj" fmla="val 4211"/>
            </a:avLst>
          </a:prstGeom>
          <a:solidFill>
            <a:srgbClr val="FAF7F1"/>
          </a:solidFill>
          <a:ln w="12700">
            <a:solidFill>
              <a:srgbClr val="8C817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348990" y="52943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55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G1 + G2 — pre-generation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319272" y="5440680"/>
            <a:ext cx="21214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filter inside the Chroma query; one bulk stock check blocks candidates before the LLM sees them.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760720" y="5248656"/>
            <a:ext cx="2423160" cy="969264"/>
          </a:xfrm>
          <a:prstGeom prst="roundRect">
            <a:avLst>
              <a:gd name="adj" fmla="val 4211"/>
            </a:avLst>
          </a:prstGeom>
          <a:solidFill>
            <a:srgbClr val="FAF7F1"/>
          </a:solidFill>
          <a:ln w="12700">
            <a:solidFill>
              <a:srgbClr val="8C817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920740" y="53110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55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G3 — prompt layer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925312" y="5530516"/>
            <a:ext cx="2121408" cy="614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Grounding rules applied at call 2; deterministic card filters run after generation.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4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Engineering decisions that mattered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66160" cy="2487168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4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14081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700784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Guardrails live in code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048256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8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rules are probabilistic. Data-integrity constraints need deterministic filters, not instructions.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49808" y="2761488"/>
            <a:ext cx="3182112" cy="859536"/>
          </a:xfrm>
          <a:prstGeom prst="roundRect">
            <a:avLst>
              <a:gd name="adj" fmla="val 8511"/>
            </a:avLst>
          </a:prstGeom>
          <a:solidFill>
            <a:srgbClr val="FAF7F1"/>
          </a:solidFill>
          <a:ln w="6350">
            <a:solidFill>
              <a:srgbClr val="FAF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112" y="28346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A855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PRACTICE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96112" y="3044952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B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prompt already said “never repeat a product,” yet duplicates still shipped. One _dedupe_docs() call ended the bug for good.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343400" y="1280160"/>
            <a:ext cx="3566160" cy="2487168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4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14081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1700784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Pre-generation beats post-hoc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048256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8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G1 and G2 block unsafe or out-of-stock candidates before the LLM ever sees them.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44568" y="2761488"/>
            <a:ext cx="3182112" cy="859536"/>
          </a:xfrm>
          <a:prstGeom prst="roundRect">
            <a:avLst>
              <a:gd name="adj" fmla="val 8511"/>
            </a:avLst>
          </a:prstGeom>
          <a:solidFill>
            <a:srgbClr val="FAF7F1"/>
          </a:solidFill>
          <a:ln w="6350">
            <a:solidFill>
              <a:srgbClr val="FAF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90872" y="28346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A855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PRACTICE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690872" y="3044952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B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an under-18 shopper, the Satin Whisper Camisole is dropped inside the Chroma query — it never enters the prompt to be talked about.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138160" y="1280160"/>
            <a:ext cx="3566160" cy="2487168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4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66760" y="14081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66760" y="1700784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bulk MCP call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66760" y="2048256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8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stock guardrail dropped from per-candidate calls to a single tool call — O(k) to O(1).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339328" y="2761488"/>
            <a:ext cx="3182112" cy="859536"/>
          </a:xfrm>
          <a:prstGeom prst="roundRect">
            <a:avLst>
              <a:gd name="adj" fmla="val 8511"/>
            </a:avLst>
          </a:prstGeom>
          <a:solidFill>
            <a:srgbClr val="FAF7F1"/>
          </a:solidFill>
          <a:ln w="6350">
            <a:solidFill>
              <a:srgbClr val="FAF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485632" y="28346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A855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PRACTICE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485632" y="3044952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B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retrieved candidates once meant six check_inventory round-trips; now one get_in_stock_size_counts returns all six counts.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423160" y="3950208"/>
            <a:ext cx="3566160" cy="2487168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4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651760" y="40782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651760" y="4370832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 vs hard budget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651760" y="4718304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8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Remembered budget is a conversational hint, never a Chroma filter.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624328" y="5431536"/>
            <a:ext cx="3182112" cy="859536"/>
          </a:xfrm>
          <a:prstGeom prst="roundRect">
            <a:avLst>
              <a:gd name="adj" fmla="val 8511"/>
            </a:avLst>
          </a:prstGeom>
          <a:solidFill>
            <a:srgbClr val="FAF7F1"/>
          </a:solidFill>
          <a:ln w="6350">
            <a:solidFill>
              <a:srgbClr val="FAF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70632" y="5504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A855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PRACTICE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770632" y="5715000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B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₹1,500 cap from last week silently hid a ₹2,200 jacket this week. Demoting it to remembered_budget_inr killed the whole bug class.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217920" y="3950208"/>
            <a:ext cx="3566160" cy="2487168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4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46520" y="40782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46520" y="4370832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 boundary before stock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46520" y="4718304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8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Cached retrieval holds static catalog data only; stock checks always run live past the boundary.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19088" y="5431536"/>
            <a:ext cx="3182112" cy="859536"/>
          </a:xfrm>
          <a:prstGeom prst="roundRect">
            <a:avLst>
              <a:gd name="adj" fmla="val 8511"/>
            </a:avLst>
          </a:prstGeom>
          <a:solidFill>
            <a:srgbClr val="FAF7F1"/>
          </a:solidFill>
          <a:ln w="6350">
            <a:solidFill>
              <a:srgbClr val="FAF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65392" y="5504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A855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PRACTICE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565392" y="5715000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B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repeated “festive kurta” query reuses cached documents, but re-checks stock — so a size that sold out mid-session is still blocked.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4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Engineering decisions that mattered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4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14904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855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07568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Guardrails live in code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478024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rules are probabilistic — the duplicate-product bug and G1/G2 proved that data-integrity constraints need deterministic filters, not instructions.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132588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4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0" y="14904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855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0" y="207568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Pre-generation beats post-hoc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2478024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G1 and G2 block unsafe or out-of-stock candidates before the LLM ever sees them — bad content never reaches generation.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38160" y="132588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4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66760" y="14904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855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366760" y="207568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bulk MCP call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66760" y="2478024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stock guardrail dropped from O(k) per-candidate calls to a single get_in_stock_size_counts — O(1) tool overhead per turn.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23160" y="397764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4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51760" y="414223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855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651760" y="47274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 vs hard budget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51760" y="5129784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Remembered budget is a conversational hint, never a Chroma filter — eliminating the cross-session filter-bleed bug class entirely.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397764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4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46520" y="414223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855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446520" y="47274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4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 boundary before stock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5129784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catalog retrieval is cached; stock checks always run live past the boundary — no stale safety decisions.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AF7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result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55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shipped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577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A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+ Vite frontend — chat, markdown replies, product card rail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A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service wrapping the Agent_3 pipeline (login, chat, memory, health)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A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Persisted Chroma + MiniLM with embedding and retrieval caches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A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FastMCP stdio subprocess — three Postgres retail tools, always live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A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Shopper memory: purchase-derived + chat-derived, soft budget hints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A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guardrails demonstrably firing, logged in every trace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A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observability dashboard aggregating per-turn traces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75120" y="1234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55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session metrics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75120" y="164592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2B2420"/>
          </a:solidFill>
          <a:ln w="12700">
            <a:solidFill>
              <a:srgbClr val="8C81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0" y="17556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AF7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__ 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 hit rate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89720" y="164592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2B2420"/>
          </a:solidFill>
          <a:ln w="12700">
            <a:solidFill>
              <a:srgbClr val="8C81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72600" y="17556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AF7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__ by rule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37260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 triggers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75120" y="29718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2B2420"/>
          </a:solidFill>
          <a:ln w="12700">
            <a:solidFill>
              <a:srgbClr val="8C81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0" y="30815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AF7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__ ms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58000" y="3657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turn latency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89720" y="29718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2B2420"/>
          </a:solidFill>
          <a:ln w="12700">
            <a:solidFill>
              <a:srgbClr val="8C81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372600" y="30815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AF7F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__ 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372600" y="3657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 failure rate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75120" y="4343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8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Fill from /api/dashboard after a live demo session.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5532120"/>
            <a:ext cx="10881360" cy="0"/>
          </a:xfrm>
          <a:prstGeom prst="line">
            <a:avLst/>
          </a:prstGeom>
          <a:noFill/>
          <a:ln w="6350">
            <a:solidFill>
              <a:srgbClr val="8C81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55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Next:  </a:t>
            </a:r>
            <a:r>
              <a:rPr lang="en-US" sz="1250" dirty="0">
                <a:solidFill>
                  <a:srgbClr val="FAF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Golden dataset (50–80 cases, ~20% multi-turn)   ·   Benchmark script   ·   Guardrail evidence + test transcripts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838</Words>
  <Application>Microsoft Macintosh PowerPoint</Application>
  <PresentationFormat>Widescreen</PresentationFormat>
  <Paragraphs>114</Paragraphs>
  <Slides>5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Inter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Rohini.S</cp:lastModifiedBy>
  <cp:revision>2</cp:revision>
  <dcterms:created xsi:type="dcterms:W3CDTF">2026-08-03T06:57:31Z</dcterms:created>
  <dcterms:modified xsi:type="dcterms:W3CDTF">2026-08-04T11:18:47Z</dcterms:modified>
</cp:coreProperties>
</file>